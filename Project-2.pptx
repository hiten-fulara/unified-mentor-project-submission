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62" r:id="rId3"/>
    <p:sldId id="257" r:id="rId4"/>
    <p:sldId id="267" r:id="rId5"/>
    <p:sldId id="258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3764D-FE1F-4669-AD1C-4D2C5B7D8CDC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AA22D-2C5E-4870-8884-EE8FB62D6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110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7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8"/>
            <a:ext cx="2743200" cy="365125"/>
          </a:xfrm>
        </p:spPr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85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65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753535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6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381003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</p:spPr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47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1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61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690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10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2" y="3132668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8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532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757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991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1" y="746761"/>
            <a:ext cx="6510619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201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45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7" y="751243"/>
            <a:ext cx="3644963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201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329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2"/>
            <a:ext cx="10822035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41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7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39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4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5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994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</p:spPr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107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8" y="753534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8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8" y="3959864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994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</p:spPr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1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1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6869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3"/>
            <a:ext cx="10146187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7"/>
            <a:ext cx="10144655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5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8885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</p:spPr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460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2" y="762001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9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384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2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2"/>
            <a:ext cx="3451583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6"/>
            <a:ext cx="3451583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5" y="4191002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6" y="4873765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2" y="4191002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2" y="4873763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7909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61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308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8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8" y="745069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381002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</p:spPr>
        <p:txBody>
          <a:bodyPr/>
          <a:lstStyle/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204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2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2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0D36C-B978-4830-9E0D-53C9DA1A6CC2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7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0ADC2-A6CA-4FCE-B842-3CD17C4425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1591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377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E1C98-E1AF-D080-905C-67DE6B495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5241" y="2563365"/>
            <a:ext cx="5687961" cy="865635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+mn-lt"/>
              </a:rPr>
              <a:t>Unified Mentor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C9E836-9E66-AEB9-305B-8844451DA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115" y="2013308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138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430BD-041A-A858-C757-6B501C575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5724F-2507-39CA-63BE-FE9497D1D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343" y="2499767"/>
            <a:ext cx="10063316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900" b="1" dirty="0"/>
              <a:t>Project – 2</a:t>
            </a:r>
            <a:br>
              <a:rPr lang="en-IN" sz="4900" dirty="0"/>
            </a:br>
            <a:br>
              <a:rPr lang="en-IN" sz="4400" b="1" dirty="0"/>
            </a:br>
            <a:r>
              <a:rPr lang="en-IN" sz="4400" b="1" dirty="0"/>
              <a:t>Financial Performance dashboard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50867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3701045-CACC-B4E1-C3C6-9FA832CFF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"/>
            <a:ext cx="12191999" cy="6857999"/>
          </a:xfrm>
        </p:spPr>
      </p:pic>
    </p:spTree>
    <p:extLst>
      <p:ext uri="{BB962C8B-B14F-4D97-AF65-F5344CB8AC3E}">
        <p14:creationId xmlns:p14="http://schemas.microsoft.com/office/powerpoint/2010/main" val="1221175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205D8D-7140-2641-D1A7-6DD101F78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39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F3796-22CA-C26C-ACCF-5945CE1EC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67CB6F-3FB2-8426-17D0-3C68248D8A24}"/>
              </a:ext>
            </a:extLst>
          </p:cNvPr>
          <p:cNvSpPr txBox="1"/>
          <p:nvPr/>
        </p:nvSpPr>
        <p:spPr>
          <a:xfrm>
            <a:off x="3229898" y="801691"/>
            <a:ext cx="6041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Financial Performance (KPIs)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C2457F-3322-0816-6A15-C0542B180FA8}"/>
              </a:ext>
            </a:extLst>
          </p:cNvPr>
          <p:cNvSpPr txBox="1"/>
          <p:nvPr/>
        </p:nvSpPr>
        <p:spPr>
          <a:xfrm>
            <a:off x="1622322" y="1922573"/>
            <a:ext cx="850490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1. Total Revenue</a:t>
            </a:r>
          </a:p>
          <a:p>
            <a:r>
              <a:rPr lang="en-IN" sz="2400" dirty="0"/>
              <a:t>According to the financial data, the total revenue generated amounts to  127.93 million.</a:t>
            </a:r>
          </a:p>
          <a:p>
            <a:endParaRPr lang="en-IN" sz="2400" dirty="0"/>
          </a:p>
          <a:p>
            <a:r>
              <a:rPr lang="en-IN" sz="2800" b="1" dirty="0"/>
              <a:t>2</a:t>
            </a:r>
            <a:r>
              <a:rPr lang="en-IN" sz="3200" b="1" dirty="0"/>
              <a:t>. Total Profit</a:t>
            </a:r>
          </a:p>
          <a:p>
            <a:r>
              <a:rPr lang="en-IN" sz="2400" dirty="0"/>
              <a:t>The amount of total profit  acquired by the firm is 16.89M.</a:t>
            </a:r>
          </a:p>
          <a:p>
            <a:endParaRPr lang="en-IN" sz="2400" dirty="0"/>
          </a:p>
          <a:p>
            <a:r>
              <a:rPr lang="en-IN" sz="2800" b="1" dirty="0"/>
              <a:t>3. Profit Margin Percentage</a:t>
            </a:r>
          </a:p>
          <a:p>
            <a:r>
              <a:rPr lang="en-IN" sz="2400" dirty="0"/>
              <a:t>The profit margin percentage is  calculated at 14.23%.</a:t>
            </a:r>
          </a:p>
          <a:p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669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A0DF4-766D-DEDE-5FB4-1A97C10D2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62887C-40E7-CF2A-301A-B24CE325BB46}"/>
              </a:ext>
            </a:extLst>
          </p:cNvPr>
          <p:cNvSpPr txBox="1"/>
          <p:nvPr/>
        </p:nvSpPr>
        <p:spPr>
          <a:xfrm>
            <a:off x="1199537" y="1543663"/>
            <a:ext cx="85737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4. Manufacturing Cost</a:t>
            </a:r>
          </a:p>
          <a:p>
            <a:r>
              <a:rPr lang="en-IN" sz="2400" dirty="0"/>
              <a:t>The manufacturing cost is estimated at 63 thousand for the year.</a:t>
            </a:r>
          </a:p>
          <a:p>
            <a:endParaRPr lang="en-IN" sz="2800" b="1" dirty="0"/>
          </a:p>
          <a:p>
            <a:r>
              <a:rPr lang="en-IN" sz="2800" b="1" dirty="0"/>
              <a:t>5. Total Costs</a:t>
            </a:r>
          </a:p>
          <a:p>
            <a:r>
              <a:rPr lang="en-IN" sz="2400" dirty="0"/>
              <a:t>Total Costs of the firm is calculated at an astonishing 111.04 million.</a:t>
            </a:r>
          </a:p>
          <a:p>
            <a:endParaRPr lang="en-IN" sz="2400" dirty="0"/>
          </a:p>
          <a:p>
            <a:r>
              <a:rPr lang="en-IN" sz="2800" b="1" dirty="0"/>
              <a:t>6. Discount Percentage</a:t>
            </a:r>
          </a:p>
          <a:p>
            <a:r>
              <a:rPr lang="en-IN" sz="2400" dirty="0"/>
              <a:t>Over the year, the firm offered an average discount percentage of 9.04% on its products.</a:t>
            </a:r>
          </a:p>
        </p:txBody>
      </p:sp>
    </p:spTree>
    <p:extLst>
      <p:ext uri="{BB962C8B-B14F-4D97-AF65-F5344CB8AC3E}">
        <p14:creationId xmlns:p14="http://schemas.microsoft.com/office/powerpoint/2010/main" val="1557010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B304D-663F-F3F1-17BE-143DF495A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477926-DB30-95DA-EF20-20F09D9F6DD4}"/>
              </a:ext>
            </a:extLst>
          </p:cNvPr>
          <p:cNvSpPr txBox="1"/>
          <p:nvPr/>
        </p:nvSpPr>
        <p:spPr>
          <a:xfrm>
            <a:off x="1337188" y="1382347"/>
            <a:ext cx="6646606" cy="431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7. Total Sales Per Segment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Government: 52.5 million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Small Business: 42.23 million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Enterprise: 19.61 million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Midmarket: 2.38 million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Channel Partners: 1.8 million</a:t>
            </a:r>
          </a:p>
        </p:txBody>
      </p:sp>
    </p:spTree>
    <p:extLst>
      <p:ext uri="{BB962C8B-B14F-4D97-AF65-F5344CB8AC3E}">
        <p14:creationId xmlns:p14="http://schemas.microsoft.com/office/powerpoint/2010/main" val="3067192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88789-F511-4626-F544-EEEAAF2B7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766F83-A8E2-24FF-11E0-AE898D1F9CA2}"/>
              </a:ext>
            </a:extLst>
          </p:cNvPr>
          <p:cNvSpPr txBox="1"/>
          <p:nvPr/>
        </p:nvSpPr>
        <p:spPr>
          <a:xfrm>
            <a:off x="1337188" y="1382347"/>
            <a:ext cx="6646606" cy="4838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8. Total Profit By Product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Paseo: 4.8 million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VTT: 3.0 million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Amarilla: 2.8 million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Velo: 2.3 million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Montana: 2.1million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Carrtera: 1.8 million</a:t>
            </a:r>
          </a:p>
        </p:txBody>
      </p:sp>
    </p:spTree>
    <p:extLst>
      <p:ext uri="{BB962C8B-B14F-4D97-AF65-F5344CB8AC3E}">
        <p14:creationId xmlns:p14="http://schemas.microsoft.com/office/powerpoint/2010/main" val="1567574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075F6-6A43-A142-A754-EC80B8109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5AFF2B-31FE-C3BF-F902-8E2352099374}"/>
              </a:ext>
            </a:extLst>
          </p:cNvPr>
          <p:cNvSpPr txBox="1"/>
          <p:nvPr/>
        </p:nvSpPr>
        <p:spPr>
          <a:xfrm>
            <a:off x="1337188" y="1382347"/>
            <a:ext cx="6646606" cy="4469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7. Total Sales By Country</a:t>
            </a:r>
          </a:p>
          <a:p>
            <a:endParaRPr lang="en-IN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United States of America: 25.03 million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Canada: 24.89 million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France: 24.35 million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Germany: 23.51 million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Mexico: 20.95 million</a:t>
            </a:r>
          </a:p>
        </p:txBody>
      </p:sp>
    </p:spTree>
    <p:extLst>
      <p:ext uri="{BB962C8B-B14F-4D97-AF65-F5344CB8AC3E}">
        <p14:creationId xmlns:p14="http://schemas.microsoft.com/office/powerpoint/2010/main" val="255559713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66</TotalTime>
  <Words>205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Century Gothic</vt:lpstr>
      <vt:lpstr>Vapor Trail</vt:lpstr>
      <vt:lpstr>Unified Mentor</vt:lpstr>
      <vt:lpstr>Project – 2  Financial Performance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Hiten Fulara</dc:creator>
  <cp:lastModifiedBy>Hiten Fulara</cp:lastModifiedBy>
  <cp:revision>10</cp:revision>
  <dcterms:created xsi:type="dcterms:W3CDTF">2025-07-23T06:30:00Z</dcterms:created>
  <dcterms:modified xsi:type="dcterms:W3CDTF">2025-07-24T12:22:51Z</dcterms:modified>
</cp:coreProperties>
</file>